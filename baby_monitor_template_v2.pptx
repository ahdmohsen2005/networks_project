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9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DBC2-AFFA-1344-80C5-147CAEB6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16EE5-5803-D2B6-B492-171050F1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16078-E661-C1CC-C712-C95E4188D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31E03-BCD3-C901-FAB8-1EE768C8B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26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889A">
              <a:alpha val="25000"/>
            </a:srgbClr>
          </a:solidFill>
          <a:ln w="12700">
            <a:solidFill>
              <a:srgbClr val="00889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0C2B5">
              <a:alpha val="20000"/>
            </a:srgbClr>
          </a:solidFill>
          <a:ln w="12700">
            <a:solidFill>
              <a:srgbClr val="00C2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0889A">
              <a:alpha val="20000"/>
            </a:srgbClr>
          </a:solidFill>
          <a:ln w="12700">
            <a:solidFill>
              <a:srgbClr val="00889A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B5"/>
                </a:solidFill>
              </a:rPr>
              <a:t>SMART PARENTING TECHNOLOGY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Monitor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CFE0"/>
                </a:solidFill>
              </a:rPr>
              <a:t>Intelligent monitoring for peace of mind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889A">
              <a:alpha val="15000"/>
            </a:srgbClr>
          </a:solidFill>
          <a:ln w="12700">
            <a:solidFill>
              <a:srgbClr val="00889A">
                <a:alpha val="1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FE0"/>
                </a:solidFill>
              </a:rPr>
              <a:t>Team Name  |  Course / Institution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572768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325880"/>
            <a:ext cx="585216" cy="585216"/>
          </a:xfrm>
          <a:prstGeom prst="ellipse">
            <a:avLst/>
          </a:prstGeom>
          <a:solidFill>
            <a:srgbClr val="00889A">
              <a:alpha val="15000"/>
            </a:srgbClr>
          </a:solidFill>
          <a:ln w="12700">
            <a:solidFill>
              <a:srgbClr val="00889A">
                <a:alpha val="1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39903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9842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Ahd Mohsen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2"/>
                </a:solidFill>
              </a:rPr>
              <a:t>231001691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93392" y="114300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93392" y="1143000"/>
            <a:ext cx="1572768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87168" y="1325880"/>
            <a:ext cx="585216" cy="585216"/>
          </a:xfrm>
          <a:prstGeom prst="ellipse">
            <a:avLst/>
          </a:prstGeom>
          <a:solidFill>
            <a:srgbClr val="00889A">
              <a:alpha val="15000"/>
            </a:srgbClr>
          </a:solidFill>
          <a:ln w="12700">
            <a:solidFill>
              <a:srgbClr val="00889A">
                <a:alpha val="1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39903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57400" y="19842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Sara Saria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57400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2"/>
                </a:solidFill>
              </a:rPr>
              <a:t>231010910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66744" y="114300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66744" y="1143000"/>
            <a:ext cx="1572768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60520" y="1325880"/>
            <a:ext cx="585216" cy="585216"/>
          </a:xfrm>
          <a:prstGeom prst="ellipse">
            <a:avLst/>
          </a:prstGeom>
          <a:solidFill>
            <a:srgbClr val="00889A">
              <a:alpha val="15000"/>
            </a:srgbClr>
          </a:solidFill>
          <a:ln w="12700">
            <a:solidFill>
              <a:srgbClr val="00889A">
                <a:alpha val="1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39903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30752" y="19842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Reem Mahmoud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730752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2"/>
                </a:solidFill>
              </a:rPr>
              <a:t>231001389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340096" y="114300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40096" y="1143000"/>
            <a:ext cx="1572768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833872" y="1325880"/>
            <a:ext cx="585216" cy="585216"/>
          </a:xfrm>
          <a:prstGeom prst="ellipse">
            <a:avLst/>
          </a:prstGeom>
          <a:solidFill>
            <a:srgbClr val="00889A">
              <a:alpha val="15000"/>
            </a:srgbClr>
          </a:solidFill>
          <a:ln w="12700">
            <a:solidFill>
              <a:srgbClr val="00889A">
                <a:alpha val="1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399032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04104" y="19842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Sana Mahmoud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04104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2"/>
                </a:solidFill>
              </a:rPr>
              <a:t>231000371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013448" y="114300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013448" y="1143000"/>
            <a:ext cx="1572768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507224" y="1325880"/>
            <a:ext cx="585216" cy="585216"/>
          </a:xfrm>
          <a:prstGeom prst="ellipse">
            <a:avLst/>
          </a:prstGeom>
          <a:solidFill>
            <a:srgbClr val="00889A">
              <a:alpha val="15000"/>
            </a:srgbClr>
          </a:solidFill>
          <a:ln w="12700">
            <a:solidFill>
              <a:srgbClr val="00889A">
                <a:alpha val="1500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1399032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77456" y="19842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Layan Mohamed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077456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B2"/>
                </a:solidFill>
              </a:rPr>
              <a:t>231002952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889A"/>
                </a:solidFill>
              </a:rPr>
              <a:t>Bachelor of Electrical &amp; Computer Engineering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2286000" y="3337560"/>
            <a:ext cx="457200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2286000" y="336499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Baby Monitor Project  •  2026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B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PHOTOS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9605" y="1056568"/>
            <a:ext cx="2705050" cy="1686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6517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Circuit – Top View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6285" y="1095161"/>
            <a:ext cx="241771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26517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Circuit – Side View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" y="274320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9605" y="2743200"/>
            <a:ext cx="2705050" cy="1554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" y="4343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Baby Doll (Test Subject)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709160" y="274320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26286" y="2743200"/>
            <a:ext cx="2417709" cy="1554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160" y="4343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Circuit – Clean Build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B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51560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103120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Arduino Uno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Main microcontroller. Runs the logic, reads sensors, and controls outputs.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0008" y="1051560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50008" y="1051560"/>
            <a:ext cx="210312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MOSFET IRF Z44N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(N-Channel)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41448" y="1581912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Acts as a high-current switch. Gate connected to PWM pin 5 (~5V) to control motor speed. Drain → motor, Source → GND.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17136" y="1051560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17136" y="1051560"/>
            <a:ext cx="21031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Gear Motor (Yellow)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8576" y="1581912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High-torque, low-speed DC motor. Opens/closes the baby bed cover based on sound detection.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84264" y="1051560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84264" y="1051560"/>
            <a:ext cx="2103120" cy="64008"/>
          </a:xfrm>
          <a:prstGeom prst="rect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75704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Sound Sensor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75704" y="1581912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Analog microphone module. Reads crying/noise via A0. VCC → 5V, GND → GND.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752344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752344"/>
            <a:ext cx="210312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62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Bluetooth HC-05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282696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Wireless link to parent's phone. VCC → 5V, GND → GND, TXD → Pin 11, RXD → Pin 10.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50008" y="2752344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50008" y="2752344"/>
            <a:ext cx="21031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2862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9V Battery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41448" y="3282696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Powers the gear motor independently. (+) → motor, (−) → common GND.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17136" y="2752344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17136" y="2752344"/>
            <a:ext cx="210312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2862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Baby Doll &amp; Bed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08576" y="3282696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Physical demo setup. The doll simulates a baby; the bed has a motorised cover controlled by the circuit.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84264" y="2752344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84264" y="2752344"/>
            <a:ext cx="2103120" cy="640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5704" y="2862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Jumper Wires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75704" y="3282696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D5C"/>
                </a:solidFill>
              </a:rPr>
              <a:t>Connect all components on the breadboard. Colour-coded for clarity.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B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WIRING &amp; CONNECTIONS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51560"/>
            <a:ext cx="2816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816352" cy="6400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Arduino (Controller)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5V → Breadboard positive rail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GND → Breadboard negative rail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72384" y="1051560"/>
            <a:ext cx="2816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72384" y="1051560"/>
            <a:ext cx="2816352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1430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Sound Sensor (Input)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63824" y="1508760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A0 → Arduino Analog Pin A0 (reads analog cry signal)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VCC → 5V  |  GND → GND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61888" y="1051560"/>
            <a:ext cx="2816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1888" y="1051560"/>
            <a:ext cx="2816352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1430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Bluetooth HC-05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1508760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VCC → 5V  |  GND → GND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TXD → Arduino Pin 11 (receives data)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RXD → Arduino Pin 10 (sends data)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660904"/>
            <a:ext cx="2816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660904"/>
            <a:ext cx="2816352" cy="64008"/>
          </a:xfrm>
          <a:prstGeom prst="rect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523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MOSFET IRF Z44N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1181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Gate → PWM Pin 5 (~5V) — controls motor speed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Drain → Gear Motor terminal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Source → GND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72384" y="2660904"/>
            <a:ext cx="2816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72384" y="2660904"/>
            <a:ext cx="281635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27523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Gear Motor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63824" y="31181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Controlled by MOSFET drain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Opens/closes bed cover on cry detection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High torque ensures reliable actuation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61888" y="2660904"/>
            <a:ext cx="281635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1888" y="2660904"/>
            <a:ext cx="2816352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523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9V Battery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31181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(+) → Gear Motor positive terminal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(−) → Common GND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334D5C"/>
                </a:solidFill>
              </a:rPr>
              <a:t>Separate from Arduino 5V rail for motor current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B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66928"/>
          </a:xfrm>
          <a:prstGeom prst="rect">
            <a:avLst/>
          </a:prstGeom>
          <a:solidFill>
            <a:srgbClr val="00889A"/>
          </a:solidFill>
          <a:ln w="12700">
            <a:solidFill>
              <a:srgbClr val="008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247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 Unit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Arduino Uno (MCU)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Sound Sensor (A0)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MOSFET IRF Z44N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Gear Motor (DC)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9V Battery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926080"/>
            <a:ext cx="594360" cy="0"/>
          </a:xfrm>
          <a:prstGeom prst="line">
            <a:avLst/>
          </a:prstGeom>
          <a:noFill/>
          <a:ln w="25400">
            <a:solidFill>
              <a:srgbClr val="00C2B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rot="2700000">
            <a:off x="3511296" y="2871216"/>
            <a:ext cx="109728" cy="10972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26517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247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Signal 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Sound → Analog signal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Arduino processes input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PWM signal to MOSFET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MOSFET switches motor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Bluetooth sends alert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926080"/>
            <a:ext cx="594360" cy="0"/>
          </a:xfrm>
          <a:prstGeom prst="line">
            <a:avLst/>
          </a:prstGeom>
          <a:noFill/>
          <a:ln w="25400">
            <a:solidFill>
              <a:srgbClr val="00C2B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rot="2700000">
            <a:off x="6391656" y="2871216"/>
            <a:ext cx="109728" cy="10972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51760" cy="566928"/>
          </a:xfrm>
          <a:prstGeom prst="rect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1247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 /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HC-05 Bluetooth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Parent's smartphone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Real-time notifications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Motor opens bed cover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Sound threshold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B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802A-92FB-7B03-8353-956E47A8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704DC8-CAB0-1FFF-E2BF-EB2D0C4EFF2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66F187-2AD3-69C2-5E32-03230E9288D3}"/>
              </a:ext>
            </a:extLst>
          </p:cNvPr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PHOTOS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7BA0CC-F605-EDA8-67B7-D078316A4252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2B5"/>
          </a:solidFill>
          <a:ln w="12700">
            <a:solidFill>
              <a:srgbClr val="00C2B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4C5CA1-A392-F091-1491-D79186EACDE6}"/>
              </a:ext>
            </a:extLst>
          </p:cNvPr>
          <p:cNvSpPr/>
          <p:nvPr/>
        </p:nvSpPr>
        <p:spPr>
          <a:xfrm>
            <a:off x="228600" y="105156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46F10AB-6379-F420-B189-EE2B7F20D0F8}"/>
              </a:ext>
            </a:extLst>
          </p:cNvPr>
          <p:cNvSpPr/>
          <p:nvPr/>
        </p:nvSpPr>
        <p:spPr>
          <a:xfrm>
            <a:off x="228600" y="26517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Circuit – Top View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9957F11-442C-6F90-8B0F-1DB3DDF7E0A6}"/>
              </a:ext>
            </a:extLst>
          </p:cNvPr>
          <p:cNvSpPr/>
          <p:nvPr/>
        </p:nvSpPr>
        <p:spPr>
          <a:xfrm>
            <a:off x="4709160" y="105156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DFDF503-467F-CD47-56AE-CF65C916560F}"/>
              </a:ext>
            </a:extLst>
          </p:cNvPr>
          <p:cNvSpPr/>
          <p:nvPr/>
        </p:nvSpPr>
        <p:spPr>
          <a:xfrm>
            <a:off x="4709160" y="26517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</a:rPr>
              <a:t>Circuit – Side View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36E4168-F9AE-8BA6-8BAA-C208C4C9D788}"/>
              </a:ext>
            </a:extLst>
          </p:cNvPr>
          <p:cNvSpPr/>
          <p:nvPr/>
        </p:nvSpPr>
        <p:spPr>
          <a:xfrm>
            <a:off x="228600" y="2743200"/>
            <a:ext cx="425196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310FEA8-D020-D903-90F6-1DD7DADC6535}"/>
              </a:ext>
            </a:extLst>
          </p:cNvPr>
          <p:cNvSpPr/>
          <p:nvPr/>
        </p:nvSpPr>
        <p:spPr>
          <a:xfrm>
            <a:off x="228600" y="4343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DB20835-2A90-F4B6-F1BB-08049E5F3E06}"/>
              </a:ext>
            </a:extLst>
          </p:cNvPr>
          <p:cNvSpPr/>
          <p:nvPr/>
        </p:nvSpPr>
        <p:spPr>
          <a:xfrm>
            <a:off x="4238939" y="2571750"/>
            <a:ext cx="4759329" cy="218531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334D5C"/>
                </a:solidFill>
              </a:rPr>
              <a:t>Blynk uses virtual pins as an IoT interface to communicate between the app and the device. The connection is established using an authentication code, similar to a password, which must be known by both the device and Blynk.</a:t>
            </a:r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 err="1">
                <a:solidFill>
                  <a:srgbClr val="334D5C"/>
                </a:solidFill>
              </a:rPr>
              <a:t>Blynk.write</a:t>
            </a:r>
            <a:r>
              <a:rPr lang="en-US" sz="1200" dirty="0">
                <a:solidFill>
                  <a:srgbClr val="334D5C"/>
                </a:solidFill>
              </a:rPr>
              <a:t>() is used to send data from the app to the Arduino, while </a:t>
            </a:r>
            <a:r>
              <a:rPr lang="en-US" sz="1200" dirty="0" err="1">
                <a:solidFill>
                  <a:srgbClr val="334D5C"/>
                </a:solidFill>
              </a:rPr>
              <a:t>Blynk.virtualWrite</a:t>
            </a:r>
            <a:r>
              <a:rPr lang="en-US" sz="1200" dirty="0">
                <a:solidFill>
                  <a:srgbClr val="334D5C"/>
                </a:solidFill>
              </a:rPr>
              <a:t>() sends data from the Arduino to the app. The </a:t>
            </a:r>
            <a:r>
              <a:rPr lang="en-US" sz="1200" dirty="0" err="1">
                <a:solidFill>
                  <a:srgbClr val="334D5C"/>
                </a:solidFill>
              </a:rPr>
              <a:t>Blynk.run</a:t>
            </a:r>
            <a:r>
              <a:rPr lang="en-US" sz="1200" dirty="0">
                <a:solidFill>
                  <a:srgbClr val="334D5C"/>
                </a:solidFill>
              </a:rPr>
              <a:t>() function keeps the Blynk connection active and allows continuous communication between the device and the app.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DC00635-EF3F-7A64-2390-145CF98794A0}"/>
              </a:ext>
            </a:extLst>
          </p:cNvPr>
          <p:cNvSpPr/>
          <p:nvPr/>
        </p:nvSpPr>
        <p:spPr>
          <a:xfrm>
            <a:off x="4709160" y="4343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83C75AA-C9F3-F4FF-B33B-AF7D51AC1406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B2"/>
                </a:solidFill>
              </a:rPr>
              <a:t>3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5C2C20-43F2-AA8C-D3A0-8B546FED8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4297680" cy="37055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3B18DE-7F4D-6C71-E4D3-54C01EA84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51560"/>
            <a:ext cx="4517709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4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4572000" cy="4572000"/>
          </a:xfrm>
          <a:prstGeom prst="ellipse">
            <a:avLst/>
          </a:prstGeom>
          <a:solidFill>
            <a:srgbClr val="00889A">
              <a:alpha val="20000"/>
            </a:srgbClr>
          </a:solidFill>
          <a:ln w="12700">
            <a:solidFill>
              <a:srgbClr val="00889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00C2B5">
              <a:alpha val="18000"/>
            </a:srgbClr>
          </a:solidFill>
          <a:ln w="12700">
            <a:solidFill>
              <a:srgbClr val="00C2B5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C2B5"/>
                </a:solidFill>
              </a:rPr>
              <a:t>Questions &amp; Discussion Welcome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520440"/>
            <a:ext cx="2743200" cy="0"/>
          </a:xfrm>
          <a:prstGeom prst="line">
            <a:avLst/>
          </a:prstGeom>
          <a:noFill/>
          <a:ln w="19050">
            <a:solidFill>
              <a:srgbClr val="0088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EC4"/>
                </a:solidFill>
              </a:rPr>
              <a:t>Ahd  •  Sara  •  Reem  •  Sana  •  Layan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572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 Monitor Project</dc:title>
  <dc:subject>PptxGenJS Presentation</dc:subject>
  <dc:creator>PptxGenJS</dc:creator>
  <cp:lastModifiedBy>reem helal</cp:lastModifiedBy>
  <cp:revision>3</cp:revision>
  <dcterms:created xsi:type="dcterms:W3CDTF">2026-05-20T22:51:43Z</dcterms:created>
  <dcterms:modified xsi:type="dcterms:W3CDTF">2026-05-20T23:32:19Z</dcterms:modified>
</cp:coreProperties>
</file>